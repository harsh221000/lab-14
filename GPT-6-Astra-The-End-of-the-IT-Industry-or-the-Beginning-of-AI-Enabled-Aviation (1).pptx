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12192000"/>
  <p:embeddedFontLst>
    <p:embeddedFont>
      <p:font typeface="Geist Bold" panose="020B0604020202020204" charset="0"/>
      <p:regular r:id="rId16"/>
    </p:embeddedFont>
    <p:embeddedFont>
      <p:font typeface="Geist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37" y="4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9453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-2-4.svg"/><Relationship Id="rId3" Type="http://schemas.openxmlformats.org/officeDocument/2006/relationships/image" Target="../media/image5.jpeg"/><Relationship Id="rId7" Type="http://schemas.openxmlformats.org/officeDocument/2006/relationships/image" Target="../media/image-2-4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2-4.svg"/><Relationship Id="rId11" Type="http://schemas.openxmlformats.org/officeDocument/2006/relationships/image" Target="../media/image4.jpeg"/><Relationship Id="rId5" Type="http://schemas.openxmlformats.org/officeDocument/2006/relationships/image" Target="../media/image7.png"/><Relationship Id="rId10" Type="http://schemas.openxmlformats.org/officeDocument/2006/relationships/image" Target="../media/image-2-4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0.jpeg"/><Relationship Id="rId7" Type="http://schemas.openxmlformats.org/officeDocument/2006/relationships/image" Target="../media/image-5-5.svg"/><Relationship Id="rId12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-5-9.svg"/><Relationship Id="rId5" Type="http://schemas.openxmlformats.org/officeDocument/2006/relationships/image" Target="../media/image-5-3.svg"/><Relationship Id="rId10" Type="http://schemas.openxmlformats.org/officeDocument/2006/relationships/image" Target="../media/image14.png"/><Relationship Id="rId4" Type="http://schemas.openxmlformats.org/officeDocument/2006/relationships/image" Target="../media/image11.png"/><Relationship Id="rId9" Type="http://schemas.openxmlformats.org/officeDocument/2006/relationships/image" Target="../media/image-5-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-7-7.svg"/><Relationship Id="rId3" Type="http://schemas.openxmlformats.org/officeDocument/2006/relationships/image" Target="../media/image16.jpe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7-3.svg"/><Relationship Id="rId11" Type="http://schemas.openxmlformats.org/officeDocument/2006/relationships/image" Target="../media/image4.jpeg"/><Relationship Id="rId5" Type="http://schemas.openxmlformats.org/officeDocument/2006/relationships/image" Target="../media/image-7-3.svg"/><Relationship Id="rId10" Type="http://schemas.openxmlformats.org/officeDocument/2006/relationships/image" Target="../media/image19.png"/><Relationship Id="rId4" Type="http://schemas.openxmlformats.org/officeDocument/2006/relationships/image" Target="../media/image17.png"/><Relationship Id="rId9" Type="http://schemas.openxmlformats.org/officeDocument/2006/relationships/image" Target="../media/image-7-3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-8-6.svg"/><Relationship Id="rId13" Type="http://schemas.openxmlformats.org/officeDocument/2006/relationships/image" Target="../media/image24.png"/><Relationship Id="rId18" Type="http://schemas.openxmlformats.org/officeDocument/2006/relationships/image" Target="../media/image-8-18.svg"/><Relationship Id="rId3" Type="http://schemas.openxmlformats.org/officeDocument/2006/relationships/image" Target="../media/image20.png"/><Relationship Id="rId21" Type="http://schemas.openxmlformats.org/officeDocument/2006/relationships/image" Target="../media/image26.png"/><Relationship Id="rId7" Type="http://schemas.openxmlformats.org/officeDocument/2006/relationships/image" Target="../media/image22.png"/><Relationship Id="rId12" Type="http://schemas.openxmlformats.org/officeDocument/2006/relationships/image" Target="../media/image-8-4.svg"/><Relationship Id="rId1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-8-4.svg"/><Relationship Id="rId20" Type="http://schemas.openxmlformats.org/officeDocument/2006/relationships/image" Target="../media/image-8-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-8-4.svg"/><Relationship Id="rId11" Type="http://schemas.openxmlformats.org/officeDocument/2006/relationships/image" Target="../media/image-8-10.svg"/><Relationship Id="rId5" Type="http://schemas.openxmlformats.org/officeDocument/2006/relationships/image" Target="../media/image21.png"/><Relationship Id="rId23" Type="http://schemas.openxmlformats.org/officeDocument/2006/relationships/image" Target="../media/image4.jpeg"/><Relationship Id="rId10" Type="http://schemas.openxmlformats.org/officeDocument/2006/relationships/image" Target="../media/image23.png"/><Relationship Id="rId4" Type="http://schemas.openxmlformats.org/officeDocument/2006/relationships/image" Target="../media/image6.png"/><Relationship Id="rId9" Type="http://schemas.openxmlformats.org/officeDocument/2006/relationships/image" Target="../media/image-8-4.svg"/><Relationship Id="rId14" Type="http://schemas.openxmlformats.org/officeDocument/2006/relationships/image" Target="../media/image-8-14.svg"/><Relationship Id="rId22" Type="http://schemas.openxmlformats.org/officeDocument/2006/relationships/image" Target="../media/image-8-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3" Type="http://schemas.openxmlformats.org/officeDocument/2006/relationships/image" Target="../media/image28.jpeg"/><Relationship Id="rId7" Type="http://schemas.openxmlformats.org/officeDocument/2006/relationships/image" Target="../media/image32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png"/><Relationship Id="rId9" Type="http://schemas.openxmlformats.org/officeDocument/2006/relationships/image" Target="../media/image3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661914"/>
            <a:ext cx="6296860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b="1" kern="0" spc="-7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GPT-6 Astra: The End of the IT Industry or the Beginning of AI-Enabled Aviation?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788172"/>
            <a:ext cx="6296860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Generative AI, Agentic AI &amp; the Future of Aviation Management</a:t>
            </a:r>
            <a:endParaRPr lang="en-US" sz="1450" dirty="0"/>
          </a:p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BBA Aviation Management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| Course: Generative AI for Business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Group Members:</a:t>
            </a: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      (2520996526)</a:t>
            </a:r>
            <a:endParaRPr lang="en-US" sz="1450" dirty="0" smtClean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Gurshan</a:t>
            </a:r>
            <a:r>
              <a:rPr lang="en-US" sz="145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(2520996522)</a:t>
            </a:r>
            <a:endParaRPr lang="en-US" sz="1450" dirty="0" smtClean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Parth       (2520996548)</a:t>
            </a:r>
            <a:endParaRPr lang="en-US" sz="1450" dirty="0" smtClean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Soham</a:t>
            </a:r>
            <a:r>
              <a:rPr lang="en-US" sz="145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(2520996560)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Khushi    (2520996535)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Sayam</a:t>
            </a:r>
            <a:r>
              <a:rPr lang="en-US" sz="145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(2520996557)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dirty="0" err="1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Somil</a:t>
            </a:r>
            <a:r>
              <a:rPr lang="en-US" sz="1450" dirty="0" smtClean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(2520996561)</a:t>
            </a:r>
            <a:endParaRPr lang="en-US" sz="1450" dirty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</p:txBody>
      </p:sp>
      <p:pic>
        <p:nvPicPr>
          <p:cNvPr id="1026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1249859"/>
            <a:ext cx="6296860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The GPT-6 Astra News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233360" y="1922959"/>
            <a:ext cx="1663162" cy="201116"/>
          </a:xfrm>
          <a:prstGeom prst="roundRect">
            <a:avLst>
              <a:gd name="adj" fmla="val 22105"/>
            </a:avLst>
          </a:prstGeom>
          <a:solidFill>
            <a:srgbClr val="00194D"/>
          </a:solidFill>
          <a:ln/>
        </p:spPr>
      </p:sp>
      <p:sp>
        <p:nvSpPr>
          <p:cNvPr id="5" name="Text 2"/>
          <p:cNvSpPr/>
          <p:nvPr/>
        </p:nvSpPr>
        <p:spPr>
          <a:xfrm>
            <a:off x="5312733" y="1962646"/>
            <a:ext cx="211400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SECTION A — NEWS ANALYSIS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233360" y="2161084"/>
            <a:ext cx="298710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Article Details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233360" y="2468662"/>
            <a:ext cx="2987104" cy="960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spcAft>
                <a:spcPts val="650"/>
              </a:spcAft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Headline: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"GPT-6 Astra: A New Generation of Intelligence"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Publication: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[Insert Publication Name]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Author: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[Insert Author]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Date: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[Insert Publication Date]</a:t>
            </a:r>
            <a:endParaRPr lang="en-US" sz="1000" dirty="0"/>
          </a:p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Source:</a:t>
            </a: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[Insert Website/URL]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33360" y="3533676"/>
            <a:ext cx="2987104" cy="525264"/>
          </a:xfrm>
          <a:prstGeom prst="roundRect">
            <a:avLst>
              <a:gd name="adj" fmla="val 10580"/>
            </a:avLst>
          </a:prstGeom>
          <a:solidFill>
            <a:srgbClr val="002A8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5616" y="3664148"/>
            <a:ext cx="165294" cy="1322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663165" y="3650059"/>
            <a:ext cx="2425044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Reference: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[Full citation with URL — to be completed by group]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8549466" y="1911350"/>
            <a:ext cx="298710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Capabilities Reported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99074" y="2238772"/>
            <a:ext cx="198433" cy="1984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79370" y="2230537"/>
            <a:ext cx="2557200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Advanced Reasoning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8979370" y="2538115"/>
            <a:ext cx="2557200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Multi-step problem solving and complex logic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99074" y="3024088"/>
            <a:ext cx="198433" cy="1984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979370" y="3015853"/>
            <a:ext cx="2557200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Computer Use &amp; Autonomy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8979370" y="3323431"/>
            <a:ext cx="2557200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Autonomous task execution across systems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99074" y="3809405"/>
            <a:ext cx="198433" cy="1984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979370" y="3801170"/>
            <a:ext cx="2557200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Professional Coding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979370" y="4108748"/>
            <a:ext cx="2557200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Debugging, development, and code generation</a:t>
            </a:r>
            <a:endParaRPr lang="en-US" sz="10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599074" y="4594721"/>
            <a:ext cx="198433" cy="19843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979370" y="4586486"/>
            <a:ext cx="2557200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Multimodal Understanding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8979370" y="4894064"/>
            <a:ext cx="2557200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Text, image, code, and data comprehension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8549466" y="5290741"/>
            <a:ext cx="2987104" cy="2339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80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[Screenshot placeholder: Insert News Article Screenshot here]</a:t>
            </a:r>
            <a:endParaRPr lang="en-US" sz="800" dirty="0"/>
          </a:p>
        </p:txBody>
      </p:sp>
      <p:pic>
        <p:nvPicPr>
          <p:cNvPr id="25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904"/>
            <a:ext cx="10868745" cy="334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 b="1" kern="0" spc="-41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What Can GPT-6 Astra Do?</a:t>
            </a:r>
            <a:endParaRPr lang="en-US" sz="2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630" y="1014313"/>
            <a:ext cx="4512455" cy="45125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706" y="2785070"/>
            <a:ext cx="5308864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Traditional AI vs. Agentic AI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227706" y="2974677"/>
            <a:ext cx="5308864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Core Capability Areas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27706" y="3197920"/>
            <a:ext cx="5308864" cy="594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62560" indent="-162560" algn="l">
              <a:lnSpc>
                <a:spcPct val="84000"/>
              </a:lnSpc>
              <a:buSzPct val="100000"/>
              <a:buChar char="•"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Knowledge synthesis &amp; research</a:t>
            </a:r>
            <a:endParaRPr lang="en-US" sz="800" dirty="0"/>
          </a:p>
          <a:p>
            <a:pPr marL="162560" indent="-162560" algn="l">
              <a:lnSpc>
                <a:spcPct val="84000"/>
              </a:lnSpc>
              <a:buSzPct val="100000"/>
              <a:buChar char="•"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Agentic AI workflows</a:t>
            </a:r>
            <a:endParaRPr lang="en-US" sz="800" dirty="0"/>
          </a:p>
          <a:p>
            <a:pPr marL="162560" indent="-162560" algn="l">
              <a:lnSpc>
                <a:spcPct val="84000"/>
              </a:lnSpc>
              <a:buSzPct val="100000"/>
              <a:buChar char="•"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Cybersecurity &amp; threat analysis</a:t>
            </a:r>
            <a:endParaRPr lang="en-US" sz="800" dirty="0"/>
          </a:p>
          <a:p>
            <a:pPr marL="162560" indent="-162560" algn="l">
              <a:lnSpc>
                <a:spcPct val="84000"/>
              </a:lnSpc>
              <a:buSzPct val="100000"/>
              <a:buChar char="•"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Business-process automation</a:t>
            </a:r>
            <a:endParaRPr lang="en-US" sz="800" dirty="0"/>
          </a:p>
          <a:p>
            <a:pPr marL="162560" indent="-162560" algn="l">
              <a:lnSpc>
                <a:spcPct val="84000"/>
              </a:lnSpc>
              <a:buSzPct val="100000"/>
              <a:buChar char="•"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Document &amp; presentation creation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661475" y="5652889"/>
            <a:ext cx="10868745" cy="672108"/>
          </a:xfrm>
          <a:prstGeom prst="roundRect">
            <a:avLst>
              <a:gd name="adj" fmla="val 643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74175" y="5665589"/>
            <a:ext cx="5421673" cy="646708"/>
          </a:xfrm>
          <a:custGeom>
            <a:avLst/>
            <a:gdLst/>
            <a:ahLst/>
            <a:cxnLst/>
            <a:rect l="l" t="t" r="r" b="b"/>
            <a:pathLst>
              <a:path w="5421673" h="646708">
                <a:moveTo>
                  <a:pt x="36024" y="0"/>
                </a:moveTo>
                <a:lnTo>
                  <a:pt x="5421673" y="0"/>
                </a:lnTo>
                <a:lnTo>
                  <a:pt x="5421673" y="646708"/>
                </a:lnTo>
                <a:lnTo>
                  <a:pt x="36024" y="646708"/>
                </a:lnTo>
                <a:arcTo wR="36024" hR="36025" stAng="5400000" swAng="5400000"/>
                <a:lnTo>
                  <a:pt x="0" y="36025"/>
                </a:lnTo>
                <a:arcTo wR="36024" hR="36025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9" name="Text 6"/>
          <p:cNvSpPr/>
          <p:nvPr/>
        </p:nvSpPr>
        <p:spPr>
          <a:xfrm>
            <a:off x="777062" y="5768479"/>
            <a:ext cx="5215898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Traditional AI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062" y="5969298"/>
            <a:ext cx="5215898" cy="24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Ask → Answer</a:t>
            </a:r>
            <a:endParaRPr lang="en-US" sz="80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Single-turn, reactive responses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095848" y="5665589"/>
            <a:ext cx="5421673" cy="646708"/>
          </a:xfrm>
          <a:custGeom>
            <a:avLst/>
            <a:gdLst/>
            <a:ahLst/>
            <a:cxnLst/>
            <a:rect l="l" t="t" r="r" b="b"/>
            <a:pathLst>
              <a:path w="5421673" h="646708">
                <a:moveTo>
                  <a:pt x="0" y="0"/>
                </a:moveTo>
                <a:lnTo>
                  <a:pt x="5385649" y="0"/>
                </a:lnTo>
                <a:arcTo wR="36024" hR="36025" stAng="16200000" swAng="5400000"/>
                <a:lnTo>
                  <a:pt x="5421673" y="610683"/>
                </a:lnTo>
                <a:arcTo wR="36024" hR="36025" stAng="0" swAng="5400000"/>
                <a:lnTo>
                  <a:pt x="0" y="646708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2" name="Shape 9"/>
          <p:cNvSpPr/>
          <p:nvPr/>
        </p:nvSpPr>
        <p:spPr>
          <a:xfrm>
            <a:off x="6095848" y="5665589"/>
            <a:ext cx="12700" cy="646708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13" name="Text 10"/>
          <p:cNvSpPr/>
          <p:nvPr/>
        </p:nvSpPr>
        <p:spPr>
          <a:xfrm>
            <a:off x="6198735" y="5768479"/>
            <a:ext cx="5215898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b="1" kern="0" spc="-2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Agentic AI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198735" y="5969298"/>
            <a:ext cx="5215898" cy="240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84000"/>
              </a:lnSpc>
              <a:spcAft>
                <a:spcPts val="250"/>
              </a:spcAft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Goal → Plan → Tools → Execute → Check → Result</a:t>
            </a:r>
            <a:endParaRPr lang="en-US" sz="800" dirty="0"/>
          </a:p>
          <a:p>
            <a:pPr marL="0" indent="0" algn="l">
              <a:lnSpc>
                <a:spcPct val="84000"/>
              </a:lnSpc>
              <a:buNone/>
            </a:pPr>
            <a:r>
              <a:rPr lang="en-US" sz="8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Multi-step, autonomous workflows</a:t>
            </a:r>
            <a:endParaRPr lang="en-US" sz="800" dirty="0"/>
          </a:p>
        </p:txBody>
      </p:sp>
      <p:pic>
        <p:nvPicPr>
          <p:cNvPr id="15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5780"/>
            <a:ext cx="10868745" cy="522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Impact on the IT Industry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800920"/>
            <a:ext cx="1147833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 represents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transformation, not elimination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. Roles will evolve — not disappear.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2284115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Work Transformation: Traditional → AI-Enabled</a:t>
            </a:r>
            <a:endParaRPr lang="en-US" sz="15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698750"/>
          <a:ext cx="5238420" cy="2248636"/>
        </p:xfrm>
        <a:graphic>
          <a:graphicData uri="http://schemas.openxmlformats.org/drawingml/2006/table">
            <a:tbl>
              <a:tblPr/>
              <a:tblGrid>
                <a:gridCol w="2619210"/>
                <a:gridCol w="2619210"/>
              </a:tblGrid>
              <a:tr h="372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Traditional Work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AI-Enabled Work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</a:tr>
              <a:tr h="375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Manual coding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AI-assisted coding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75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Manual testing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Automated testing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75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Basic technical support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AI technical support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7583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Manual data analysis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Automated data analysis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726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Repetitive reporting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AI-generated reports</a:t>
                      </a:r>
                      <a:endParaRPr lang="en-US" sz="12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60666" marR="160666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3061365"/>
            <a:ext cx="5238421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3437196"/>
            <a:ext cx="5238421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3813027"/>
            <a:ext cx="5238421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661475" y="4188858"/>
            <a:ext cx="5238421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1475" y="4564690"/>
            <a:ext cx="5238421" cy="10042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298149" y="2284115"/>
            <a:ext cx="5238421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Most Affected IT Areas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298149" y="2698750"/>
            <a:ext cx="2550949" cy="620415"/>
          </a:xfrm>
          <a:prstGeom prst="roundRect">
            <a:avLst>
              <a:gd name="adj" fmla="val 108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77830" y="2878435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Software Dev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8985621" y="2698750"/>
            <a:ext cx="2550949" cy="620415"/>
          </a:xfrm>
          <a:prstGeom prst="roundRect">
            <a:avLst>
              <a:gd name="adj" fmla="val 108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65301" y="2878435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Tech Support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298149" y="3455690"/>
            <a:ext cx="2550949" cy="620415"/>
          </a:xfrm>
          <a:prstGeom prst="roundRect">
            <a:avLst>
              <a:gd name="adj" fmla="val 108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77830" y="3635375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Analysis</a:t>
            </a:r>
            <a:endParaRPr lang="en-US" sz="1550" dirty="0"/>
          </a:p>
        </p:txBody>
      </p:sp>
      <p:sp>
        <p:nvSpPr>
          <p:cNvPr id="18" name="Shape 15"/>
          <p:cNvSpPr/>
          <p:nvPr/>
        </p:nvSpPr>
        <p:spPr>
          <a:xfrm>
            <a:off x="8985621" y="3455690"/>
            <a:ext cx="2550949" cy="620415"/>
          </a:xfrm>
          <a:prstGeom prst="roundRect">
            <a:avLst>
              <a:gd name="adj" fmla="val 108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165301" y="3635375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Cybersecurity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6298149" y="4212630"/>
            <a:ext cx="2550949" cy="620415"/>
          </a:xfrm>
          <a:prstGeom prst="roundRect">
            <a:avLst>
              <a:gd name="adj" fmla="val 108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77830" y="4392315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QA &amp; Testing</a:t>
            </a:r>
            <a:endParaRPr lang="en-US" sz="1550" dirty="0"/>
          </a:p>
        </p:txBody>
      </p:sp>
      <p:sp>
        <p:nvSpPr>
          <p:cNvPr id="22" name="Shape 19"/>
          <p:cNvSpPr/>
          <p:nvPr/>
        </p:nvSpPr>
        <p:spPr>
          <a:xfrm>
            <a:off x="8985621" y="4212630"/>
            <a:ext cx="2550949" cy="620415"/>
          </a:xfrm>
          <a:prstGeom prst="roundRect">
            <a:avLst>
              <a:gd name="adj" fmla="val 10877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65301" y="4392315"/>
            <a:ext cx="2191588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BPO &amp; Consulting</a:t>
            </a:r>
            <a:endParaRPr lang="en-US" sz="1550" dirty="0"/>
          </a:p>
        </p:txBody>
      </p:sp>
      <p:sp>
        <p:nvSpPr>
          <p:cNvPr id="24" name="Shape 21"/>
          <p:cNvSpPr/>
          <p:nvPr/>
        </p:nvSpPr>
        <p:spPr>
          <a:xfrm>
            <a:off x="6298149" y="4986635"/>
            <a:ext cx="5238421" cy="711994"/>
          </a:xfrm>
          <a:prstGeom prst="roundRect">
            <a:avLst>
              <a:gd name="adj" fmla="val 9478"/>
            </a:avLst>
          </a:prstGeom>
          <a:solidFill>
            <a:srgbClr val="002A80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781" y="5175052"/>
            <a:ext cx="200814" cy="160635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20225" y="5149552"/>
            <a:ext cx="4555713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Insight:</a:t>
            </a:r>
            <a:r>
              <a:rPr lang="en-US" sz="12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Entry-level and repetitive roles face the greatest disruption — but new AI-oversight roles will emerge.</a:t>
            </a:r>
            <a:endParaRPr lang="en-US" sz="1250" dirty="0"/>
          </a:p>
        </p:txBody>
      </p:sp>
      <p:pic>
        <p:nvPicPr>
          <p:cNvPr id="27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5233360" y="860028"/>
            <a:ext cx="6296860" cy="1044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50" b="1" kern="0" spc="-63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From Generative AI to AI-Enabled Aviation</a:t>
            </a:r>
            <a:endParaRPr lang="en-US" sz="31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2108994"/>
            <a:ext cx="401627" cy="40163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805640" y="2108994"/>
            <a:ext cx="572458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Passenger Services</a:t>
            </a:r>
            <a:endParaRPr lang="en-US" sz="1550" dirty="0"/>
          </a:p>
        </p:txBody>
      </p:sp>
      <p:sp>
        <p:nvSpPr>
          <p:cNvPr id="6" name="Text 2"/>
          <p:cNvSpPr/>
          <p:nvPr/>
        </p:nvSpPr>
        <p:spPr>
          <a:xfrm>
            <a:off x="5805640" y="2451894"/>
            <a:ext cx="572458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Query management, baggage assistance, check-in support</a:t>
            </a:r>
            <a:endParaRPr lang="en-US" sz="1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=""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2918023"/>
            <a:ext cx="401627" cy="4016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805640" y="2918023"/>
            <a:ext cx="572458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Operations</a:t>
            </a:r>
            <a:endParaRPr lang="en-US" sz="1550" dirty="0"/>
          </a:p>
        </p:txBody>
      </p:sp>
      <p:sp>
        <p:nvSpPr>
          <p:cNvPr id="9" name="Text 4"/>
          <p:cNvSpPr/>
          <p:nvPr/>
        </p:nvSpPr>
        <p:spPr>
          <a:xfrm>
            <a:off x="5805640" y="3260923"/>
            <a:ext cx="572458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Crew scheduling, flight-disruption communication, revenue management</a:t>
            </a:r>
            <a:endParaRPr lang="en-US" sz="12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3727053"/>
            <a:ext cx="401627" cy="4016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805640" y="3727053"/>
            <a:ext cx="572458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Maintenance</a:t>
            </a:r>
            <a:endParaRPr lang="en-US" sz="1550" dirty="0"/>
          </a:p>
        </p:txBody>
      </p:sp>
      <p:sp>
        <p:nvSpPr>
          <p:cNvPr id="12" name="Text 6"/>
          <p:cNvSpPr/>
          <p:nvPr/>
        </p:nvSpPr>
        <p:spPr>
          <a:xfrm>
            <a:off x="5805640" y="4069953"/>
            <a:ext cx="5724580" cy="193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Predictive-maintenance documentation, safety-document summarization</a:t>
            </a:r>
            <a:endParaRPr lang="en-US" sz="12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33360" y="4536083"/>
            <a:ext cx="401627" cy="40163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05640" y="4536083"/>
            <a:ext cx="5724580" cy="261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b="1" kern="0" spc="-32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Training &amp; Marketing</a:t>
            </a:r>
            <a:endParaRPr lang="en-US" sz="1550" dirty="0"/>
          </a:p>
        </p:txBody>
      </p:sp>
      <p:sp>
        <p:nvSpPr>
          <p:cNvPr id="15" name="Text 8"/>
          <p:cNvSpPr/>
          <p:nvPr/>
        </p:nvSpPr>
        <p:spPr>
          <a:xfrm>
            <a:off x="5805640" y="4878983"/>
            <a:ext cx="5724580" cy="386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Training-material development, campaign optimization, knowledge management</a:t>
            </a:r>
            <a:endParaRPr lang="en-US" sz="1250" dirty="0"/>
          </a:p>
        </p:txBody>
      </p:sp>
      <p:sp>
        <p:nvSpPr>
          <p:cNvPr id="16" name="Text 9"/>
          <p:cNvSpPr/>
          <p:nvPr/>
        </p:nvSpPr>
        <p:spPr>
          <a:xfrm>
            <a:off x="5233360" y="5418733"/>
            <a:ext cx="6296860" cy="5792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Capability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Aviation Application</a:t>
            </a: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</a:t>
            </a:r>
            <a:r>
              <a:rPr lang="en-US" sz="12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Value</a:t>
            </a:r>
            <a:endParaRPr lang="en-US" sz="12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Example: Computer Use → Passenger Support System → Faster Service &amp; Reduced Workload</a:t>
            </a:r>
            <a:endParaRPr lang="en-US" sz="1250" dirty="0"/>
          </a:p>
        </p:txBody>
      </p:sp>
      <p:pic>
        <p:nvPicPr>
          <p:cNvPr id="17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59607"/>
            <a:ext cx="10868745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Human + AI: The Aviation Model</a:t>
            </a:r>
            <a:endParaRPr lang="en-US" sz="2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54" y="2406749"/>
            <a:ext cx="4523766" cy="25635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27181" y="2058392"/>
            <a:ext cx="360928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Complementary Roles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27181" y="2347813"/>
          <a:ext cx="3609290" cy="1471774"/>
        </p:xfrm>
        <a:graphic>
          <a:graphicData uri="http://schemas.openxmlformats.org/drawingml/2006/table">
            <a:tbl>
              <a:tblPr/>
              <a:tblGrid>
                <a:gridCol w="1804645"/>
                <a:gridCol w="1804645"/>
              </a:tblGrid>
              <a:tr h="2431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AI Capabilities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1A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Human Responsibility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D4FF"/>
                    </a:solidFill>
                  </a:tcPr>
                </a:tc>
              </a:tr>
              <a:tr h="246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Analyse data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Verify accuracy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Search information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Judge relevance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Summarise documents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Approve outputs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635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Draft communications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Make final decisions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431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Automate workflows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Take accountability</a:t>
                      </a:r>
                      <a:endParaRPr lang="en-US" sz="9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22862" marR="122862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927181" y="2583313"/>
            <a:ext cx="3609289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27181" y="2829667"/>
            <a:ext cx="3609289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7927181" y="3076021"/>
            <a:ext cx="3609289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7927181" y="3322375"/>
            <a:ext cx="3609289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7927181" y="3568729"/>
            <a:ext cx="3609289" cy="7679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1" name="Text 7"/>
          <p:cNvSpPr/>
          <p:nvPr/>
        </p:nvSpPr>
        <p:spPr>
          <a:xfrm>
            <a:off x="7927181" y="3922117"/>
            <a:ext cx="360928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Critical Human-Controlled Areas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7927181" y="4201517"/>
            <a:ext cx="3609289" cy="6102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Flight-safety decisions &amp; air-traffic control</a:t>
            </a:r>
            <a:endParaRPr lang="en-US" sz="950" dirty="0"/>
          </a:p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Emergency response &amp; aircraft-maintenance approval</a:t>
            </a:r>
            <a:endParaRPr lang="en-US" sz="950" dirty="0"/>
          </a:p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Security screening &amp; regulatory compliance</a:t>
            </a:r>
            <a:endParaRPr lang="en-US" sz="950" dirty="0"/>
          </a:p>
          <a:p>
            <a:pPr marL="193040" indent="-193040" algn="l">
              <a:lnSpc>
                <a:spcPct val="89000"/>
              </a:lnSpc>
              <a:buSzPct val="100000"/>
              <a:buChar char="•"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Passenger-data handling &amp; final operational decisions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8111426" y="4973439"/>
            <a:ext cx="3425045" cy="263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"AI can support aviation decisions, but responsibility cannot be automated."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927181" y="4901605"/>
            <a:ext cx="12700" cy="406995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pic>
        <p:nvPicPr>
          <p:cNvPr id="15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4591"/>
            <a:ext cx="2391211" cy="186630"/>
          </a:xfrm>
          <a:prstGeom prst="roundRect">
            <a:avLst>
              <a:gd name="adj" fmla="val 22119"/>
            </a:avLst>
          </a:prstGeom>
          <a:solidFill>
            <a:srgbClr val="00194D"/>
          </a:solidFill>
          <a:ln/>
        </p:spPr>
      </p:sp>
      <p:sp>
        <p:nvSpPr>
          <p:cNvPr id="3" name="Text 1"/>
          <p:cNvSpPr/>
          <p:nvPr/>
        </p:nvSpPr>
        <p:spPr>
          <a:xfrm>
            <a:off x="735093" y="571401"/>
            <a:ext cx="2853559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SECTION B — FICTIONAL BUSINESS CASE STUDY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61475" y="753070"/>
            <a:ext cx="10868745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Fictional Aviation Business: SkyLink AI Aviation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61475" y="1272084"/>
            <a:ext cx="2812682" cy="186630"/>
          </a:xfrm>
          <a:prstGeom prst="roundRect">
            <a:avLst>
              <a:gd name="adj" fmla="val 22119"/>
            </a:avLst>
          </a:prstGeom>
          <a:noFill/>
          <a:ln w="6350">
            <a:solidFill>
              <a:srgbClr val="629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5093" y="1308894"/>
            <a:ext cx="3275030" cy="11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50" dirty="0">
                <a:solidFill>
                  <a:srgbClr val="6296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FICTIONAL COMPANY — FOR ACADEMIC PURPOSES ONLY</a:t>
            </a:r>
            <a:endParaRPr lang="en-US" sz="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454" y="2654201"/>
            <a:ext cx="4523766" cy="256351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27181" y="1628279"/>
            <a:ext cx="3609289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Company Overview</a:t>
            </a:r>
            <a:endParaRPr lang="en-US" sz="12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27181" y="1917700"/>
            <a:ext cx="3609289" cy="8137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113510" y="2053233"/>
            <a:ext cx="328743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Type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8113510" y="2332633"/>
            <a:ext cx="3287432" cy="263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AI-powered passenger-assistance and airport-service platform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27181" y="2811264"/>
            <a:ext cx="3609289" cy="8137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13510" y="2946797"/>
            <a:ext cx="328743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Target Customers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113510" y="3226197"/>
            <a:ext cx="3287432" cy="263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Airlines, airports, business travellers, tourists, frequent flyers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27181" y="3704828"/>
            <a:ext cx="3609289" cy="94545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113510" y="3840361"/>
            <a:ext cx="328743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Business Problem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8113510" y="4119761"/>
            <a:ext cx="3287432" cy="3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Airports receive thousands of repetitive passenger questions daily — staff overwhelmed, passengers experience delays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27181" y="4730055"/>
            <a:ext cx="3609289" cy="8137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113510" y="4865588"/>
            <a:ext cx="3287432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Campaign Objective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8113510" y="5144988"/>
            <a:ext cx="3287432" cy="263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Deploy an AI-enabled passenger-support system to improve communication and reduce workload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7927181" y="5633641"/>
            <a:ext cx="3609289" cy="599976"/>
          </a:xfrm>
          <a:prstGeom prst="roundRect">
            <a:avLst>
              <a:gd name="adj" fmla="val 8601"/>
            </a:avLst>
          </a:prstGeom>
          <a:solidFill>
            <a:srgbClr val="002A80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50011" y="5744071"/>
            <a:ext cx="153488" cy="122833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326328" y="5736134"/>
            <a:ext cx="3087313" cy="3949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Tagline: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"Smarter Airports. Better Journeys." | </a:t>
            </a:r>
            <a:r>
              <a:rPr lang="en-US" sz="9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Colours: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Navy blue · Electric cyan · White | </a:t>
            </a:r>
            <a:r>
              <a:rPr lang="en-US" sz="95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Personality:</a:t>
            </a:r>
            <a:r>
              <a:rPr lang="en-US" sz="95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Professional, intelligent, reliable</a:t>
            </a:r>
            <a:endParaRPr lang="en-US" sz="950" dirty="0"/>
          </a:p>
        </p:txBody>
      </p:sp>
      <p:pic>
        <p:nvPicPr>
          <p:cNvPr id="24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6756"/>
            <a:ext cx="10868745" cy="4300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600" b="1" kern="0" spc="-5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GenAI Solution &amp; Multimodal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2540794"/>
            <a:ext cx="5273047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SkyLink AI Passenger-Support Workflow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427" y="2859980"/>
            <a:ext cx="3691044" cy="13849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34682" y="3850845"/>
            <a:ext cx="556684" cy="22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Human Review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3733108" y="3906610"/>
            <a:ext cx="556684" cy="111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Generates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3035347" y="3906610"/>
            <a:ext cx="556684" cy="111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Retrieve Data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2337585" y="3850845"/>
            <a:ext cx="556684" cy="22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AI Understands</a:t>
            </a:r>
            <a:endParaRPr lang="en-US" sz="650" dirty="0"/>
          </a:p>
        </p:txBody>
      </p:sp>
      <p:sp>
        <p:nvSpPr>
          <p:cNvPr id="9" name="Text 6"/>
          <p:cNvSpPr/>
          <p:nvPr/>
        </p:nvSpPr>
        <p:spPr>
          <a:xfrm>
            <a:off x="1624572" y="3850845"/>
            <a:ext cx="556684" cy="22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650" b="1" kern="0" spc="-1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Passenger Query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661475" y="4349155"/>
            <a:ext cx="5273047" cy="525264"/>
          </a:xfrm>
          <a:prstGeom prst="roundRect">
            <a:avLst>
              <a:gd name="adj" fmla="val 10580"/>
            </a:avLst>
          </a:prstGeom>
          <a:solidFill>
            <a:srgbClr val="002A8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30" y="4479627"/>
            <a:ext cx="165294" cy="1322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1280" y="4465538"/>
            <a:ext cx="4710987" cy="292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Important:</a:t>
            </a: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All outputs are prototypes and require human verification before operational use.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6263523" y="1378248"/>
            <a:ext cx="5273047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Five GenAI Output Prototypes</a:t>
            </a:r>
            <a:endParaRPr lang="en-US" sz="13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63523" y="1697434"/>
            <a:ext cx="5273047" cy="793849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=""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41616" y="1995091"/>
            <a:ext cx="198433" cy="19843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904361" y="1848743"/>
            <a:ext cx="448090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TEXT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904361" y="2156321"/>
            <a:ext cx="4480904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Passenger communication &amp; support responses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63523" y="2583855"/>
            <a:ext cx="5273047" cy="793849"/>
          </a:xfrm>
          <a:prstGeom prst="rect">
            <a:avLst/>
          </a:prstGeom>
        </p:spPr>
      </p:pic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=""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41616" y="2881511"/>
            <a:ext cx="198433" cy="19843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04361" y="2735163"/>
            <a:ext cx="448090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IMAGE</a:t>
            </a:r>
            <a:endParaRPr lang="en-US" sz="1300" dirty="0"/>
          </a:p>
        </p:txBody>
      </p:sp>
      <p:sp>
        <p:nvSpPr>
          <p:cNvPr id="21" name="Text 13"/>
          <p:cNvSpPr/>
          <p:nvPr/>
        </p:nvSpPr>
        <p:spPr>
          <a:xfrm>
            <a:off x="6904361" y="3042741"/>
            <a:ext cx="4480904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Airport advertisement &amp; promotional materials</a:t>
            </a:r>
            <a:endParaRPr lang="en-US" sz="10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63523" y="3470275"/>
            <a:ext cx="5273047" cy="793849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=""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41616" y="3767931"/>
            <a:ext cx="198433" cy="198438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6904361" y="3621584"/>
            <a:ext cx="448090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VIDEO</a:t>
            </a:r>
            <a:endParaRPr lang="en-US" sz="1300" dirty="0"/>
          </a:p>
        </p:txBody>
      </p:sp>
      <p:sp>
        <p:nvSpPr>
          <p:cNvPr id="25" name="Text 15"/>
          <p:cNvSpPr/>
          <p:nvPr/>
        </p:nvSpPr>
        <p:spPr>
          <a:xfrm>
            <a:off x="6904361" y="3929162"/>
            <a:ext cx="4480904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15–30 second promotional video</a:t>
            </a:r>
            <a:endParaRPr lang="en-US" sz="10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263523" y="4356695"/>
            <a:ext cx="5273047" cy="793849"/>
          </a:xfrm>
          <a:prstGeom prst="rect">
            <a:avLst/>
          </a:prstGeom>
        </p:spPr>
      </p:pic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=""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41616" y="4654352"/>
            <a:ext cx="198433" cy="198438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904361" y="4508004"/>
            <a:ext cx="448090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AUDIO</a:t>
            </a:r>
            <a:endParaRPr lang="en-US" sz="1300" dirty="0"/>
          </a:p>
        </p:txBody>
      </p:sp>
      <p:sp>
        <p:nvSpPr>
          <p:cNvPr id="29" name="Text 17"/>
          <p:cNvSpPr/>
          <p:nvPr/>
        </p:nvSpPr>
        <p:spPr>
          <a:xfrm>
            <a:off x="6904361" y="4815582"/>
            <a:ext cx="4480904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Passenger announcement &amp; voice guidance</a:t>
            </a:r>
            <a:endParaRPr lang="en-US" sz="1000" dirty="0"/>
          </a:p>
        </p:txBody>
      </p:sp>
      <p:pic>
        <p:nvPicPr>
          <p:cNvPr id="30" name="Image 10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=""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63523" y="5243116"/>
            <a:ext cx="5273047" cy="793849"/>
          </a:xfrm>
          <a:prstGeom prst="rect">
            <a:avLst/>
          </a:prstGeom>
        </p:spPr>
      </p:pic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=""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441616" y="5540772"/>
            <a:ext cx="198433" cy="198438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6904361" y="5394424"/>
            <a:ext cx="4480904" cy="215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kern="0" spc="-26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CODE / WEBSITE</a:t>
            </a:r>
            <a:endParaRPr lang="en-US" sz="1300" dirty="0"/>
          </a:p>
        </p:txBody>
      </p:sp>
      <p:sp>
        <p:nvSpPr>
          <p:cNvPr id="33" name="Text 19"/>
          <p:cNvSpPr/>
          <p:nvPr/>
        </p:nvSpPr>
        <p:spPr>
          <a:xfrm>
            <a:off x="6904361" y="5702002"/>
            <a:ext cx="4480904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Passenger-support interface prototype</a:t>
            </a:r>
            <a:endParaRPr lang="en-US" sz="1000" dirty="0"/>
          </a:p>
        </p:txBody>
      </p:sp>
      <p:pic>
        <p:nvPicPr>
          <p:cNvPr id="34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0822"/>
            <a:ext cx="10868745" cy="3992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b="1" kern="0" spc="-48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Prompts, Outputs &amp; Human Review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459607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Prompt Engineering: Airport Advertisement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739007"/>
            <a:ext cx="5284556" cy="210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7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[Placeholders: Generated image · Text output · Video thumbnail · Audio QR code · Website screenshot — insert group's actual GenAI outputs here]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52014" y="1459607"/>
            <a:ext cx="5284556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Human Review Checklist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08200" y="1787327"/>
            <a:ext cx="492837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Accuracy &amp; Factual Correctness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08200" y="2066727"/>
            <a:ext cx="492837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Verify all AI-generated information against approved sources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08200" y="2396331"/>
            <a:ext cx="492837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Aviation Relevance &amp; Industry Standards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08200" y="2675731"/>
            <a:ext cx="492837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Ensure outputs align with ICAO, IATA, and airline regulations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608200" y="3005336"/>
            <a:ext cx="492837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Tone &amp; Brand Consistency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08200" y="3284736"/>
            <a:ext cx="492837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Match SkyLink AI's professional, passenger-friendly voice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608200" y="3614341"/>
            <a:ext cx="492837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Safety &amp; Compliance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08200" y="3893741"/>
            <a:ext cx="492837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outputs that could compromise operational safety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608200" y="4223345"/>
            <a:ext cx="4928370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Privacy &amp; Data Protection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08200" y="4502745"/>
            <a:ext cx="4928370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real passenger or confidential data used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61475" y="4813995"/>
            <a:ext cx="10868745" cy="1183184"/>
          </a:xfrm>
          <a:prstGeom prst="roundRect">
            <a:avLst>
              <a:gd name="adj" fmla="val 4361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4175" y="4826695"/>
            <a:ext cx="5421673" cy="1157784"/>
          </a:xfrm>
          <a:custGeom>
            <a:avLst/>
            <a:gdLst/>
            <a:ahLst/>
            <a:cxnLst/>
            <a:rect l="l" t="t" r="r" b="b"/>
            <a:pathLst>
              <a:path w="5421673" h="1157784">
                <a:moveTo>
                  <a:pt x="43002" y="0"/>
                </a:moveTo>
                <a:lnTo>
                  <a:pt x="5421673" y="0"/>
                </a:lnTo>
                <a:lnTo>
                  <a:pt x="5421673" y="1157784"/>
                </a:lnTo>
                <a:lnTo>
                  <a:pt x="43002" y="1157784"/>
                </a:lnTo>
                <a:arcTo wR="43002" hR="43003" stAng="5400000" swAng="5400000"/>
                <a:lnTo>
                  <a:pt x="0" y="43003"/>
                </a:lnTo>
                <a:arcTo wR="43002" hR="43003" stAng="10800000" swAng="5400000"/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18" name="Text 16"/>
          <p:cNvSpPr/>
          <p:nvPr/>
        </p:nvSpPr>
        <p:spPr>
          <a:xfrm>
            <a:off x="797004" y="4949527"/>
            <a:ext cx="517601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❌</a:t>
            </a: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Weak Prompt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97004" y="5203329"/>
            <a:ext cx="5176013" cy="131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"Create an airport advertisement."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95848" y="4826695"/>
            <a:ext cx="5421673" cy="1157784"/>
          </a:xfrm>
          <a:custGeom>
            <a:avLst/>
            <a:gdLst/>
            <a:ahLst/>
            <a:cxnLst/>
            <a:rect l="l" t="t" r="r" b="b"/>
            <a:pathLst>
              <a:path w="5421673" h="1157784">
                <a:moveTo>
                  <a:pt x="0" y="0"/>
                </a:moveTo>
                <a:lnTo>
                  <a:pt x="5378671" y="0"/>
                </a:lnTo>
                <a:arcTo wR="43002" hR="43003" stAng="16200000" swAng="5400000"/>
                <a:lnTo>
                  <a:pt x="5421673" y="1114781"/>
                </a:lnTo>
                <a:arcTo wR="43002" hR="43003" stAng="0" swAng="5400000"/>
                <a:lnTo>
                  <a:pt x="0" y="1157784"/>
                </a:lnTo>
                <a:lnTo>
                  <a:pt x="0" y="0"/>
                </a:lnTo>
                <a:close/>
              </a:path>
            </a:pathLst>
          </a:custGeom>
          <a:solidFill>
            <a:srgbClr val="101620"/>
          </a:solidFill>
          <a:ln/>
        </p:spPr>
      </p:sp>
      <p:sp>
        <p:nvSpPr>
          <p:cNvPr id="21" name="Shape 19"/>
          <p:cNvSpPr/>
          <p:nvPr/>
        </p:nvSpPr>
        <p:spPr>
          <a:xfrm>
            <a:off x="6095848" y="4826695"/>
            <a:ext cx="12700" cy="1157784"/>
          </a:xfrm>
          <a:prstGeom prst="roundRect">
            <a:avLst>
              <a:gd name="adj" fmla="val 49999"/>
            </a:avLst>
          </a:prstGeom>
          <a:solidFill>
            <a:srgbClr val="002A80"/>
          </a:solidFill>
          <a:ln/>
        </p:spPr>
      </p:sp>
      <p:sp>
        <p:nvSpPr>
          <p:cNvPr id="22" name="Text 20"/>
          <p:cNvSpPr/>
          <p:nvPr/>
        </p:nvSpPr>
        <p:spPr>
          <a:xfrm>
            <a:off x="6218677" y="4949527"/>
            <a:ext cx="5176013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b="1" kern="0" spc="-24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✅</a:t>
            </a:r>
            <a:r>
              <a:rPr lang="en-US" sz="1200" b="1" kern="0" spc="-24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 Improved Prompt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18677" y="5203329"/>
            <a:ext cx="5176013" cy="65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9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"Act as an aviation marketing designer. Create a professional advertisement for SkyLink AI Aviation, an AI-powered passenger-assistance platform for modern airports. Target business travellers and tourists. Use navy blue, cyan and white. Show a realistic modern airport terminal with passengers using an AI assistance kiosk. Communicate reliability, speed and passenger convenience. Use a premium, trustworthy aviation style."</a:t>
            </a:r>
            <a:endParaRPr lang="en-US" sz="950" dirty="0"/>
          </a:p>
        </p:txBody>
      </p:sp>
      <p:pic>
        <p:nvPicPr>
          <p:cNvPr id="24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44252"/>
            <a:ext cx="10868745" cy="491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b="1" kern="0" spc="-6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Risks, Verification &amp; Conclusion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61475" y="1638002"/>
            <a:ext cx="52499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Risks of Unverified AI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1931988"/>
            <a:ext cx="52499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Responsible AI Framework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2298601"/>
            <a:ext cx="5249930" cy="1272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Human review &amp; approval required at every stage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Source verification &amp; fact-checking mandatory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Approved aviation information only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Privacy protection &amp; data security enforced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Clear AI disclosure to all users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Safety checks &amp; compliance audits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86640" y="1638002"/>
            <a:ext cx="5249930" cy="678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4100" b="1" kern="0" spc="-82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Human + AI</a:t>
            </a:r>
            <a:endParaRPr lang="en-US" sz="4100" dirty="0"/>
          </a:p>
        </p:txBody>
      </p:sp>
      <p:sp>
        <p:nvSpPr>
          <p:cNvPr id="7" name="Text 5"/>
          <p:cNvSpPr/>
          <p:nvPr/>
        </p:nvSpPr>
        <p:spPr>
          <a:xfrm>
            <a:off x="6286640" y="2437110"/>
            <a:ext cx="5249930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GPT-6 Astra does not signal the end of IT or aviation jobs. Its capabilities point toward a </a:t>
            </a:r>
            <a:r>
              <a:rPr lang="en-US" sz="11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transformation</a:t>
            </a: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of digital work — not its elimination.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13449" y="3035796"/>
            <a:ext cx="5023121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FUTURE IS NOT HUMAN VS AI.</a:t>
            </a:r>
            <a:endParaRPr lang="en-US" sz="1150" dirty="0"/>
          </a:p>
          <a:p>
            <a:pPr marL="0" indent="0" algn="ctr">
              <a:lnSpc>
                <a:spcPct val="97000"/>
              </a:lnSpc>
              <a:buNone/>
            </a:pPr>
            <a:r>
              <a:rPr lang="en-US" sz="1150" b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FUTURE IS HUMAN + AI.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86640" y="2926953"/>
            <a:ext cx="19050" cy="571500"/>
          </a:xfrm>
          <a:prstGeom prst="roundRect">
            <a:avLst>
              <a:gd name="adj" fmla="val 49999"/>
            </a:avLst>
          </a:prstGeom>
          <a:solidFill>
            <a:srgbClr val="6296FF"/>
          </a:solidFill>
          <a:ln/>
        </p:spPr>
      </p:sp>
      <p:sp>
        <p:nvSpPr>
          <p:cNvPr id="10" name="Text 8"/>
          <p:cNvSpPr/>
          <p:nvPr/>
        </p:nvSpPr>
        <p:spPr>
          <a:xfrm>
            <a:off x="6286640" y="3634482"/>
            <a:ext cx="5249930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References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86640" y="4001095"/>
            <a:ext cx="5249930" cy="834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GPT-6 Astra news source &amp; publication [Insert full citation]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OpenAI documentation &amp; research — openai.com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Aviation industry sources &amp; standards (ICAO, IATA)</a:t>
            </a:r>
            <a:endParaRPr lang="en-US" sz="1150" dirty="0"/>
          </a:p>
          <a:p>
            <a:pPr marL="233680" indent="-233680" algn="l">
              <a:lnSpc>
                <a:spcPct val="97000"/>
              </a:lnSpc>
              <a:buSzPct val="100000"/>
              <a:buChar char="•"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GenAI tools used by the group [Insert tool names &amp; URLs]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1475" y="5013821"/>
            <a:ext cx="2626453" cy="999827"/>
          </a:xfrm>
          <a:prstGeom prst="roundRect">
            <a:avLst>
              <a:gd name="adj" fmla="val 635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380" y="5177730"/>
            <a:ext cx="229864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Hallucinations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5380" y="5495925"/>
            <a:ext cx="229864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False or fabricated information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08873" y="5013821"/>
            <a:ext cx="2626453" cy="999827"/>
          </a:xfrm>
          <a:prstGeom prst="roundRect">
            <a:avLst>
              <a:gd name="adj" fmla="val 635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72778" y="5177730"/>
            <a:ext cx="229864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Data Privacy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572778" y="5495925"/>
            <a:ext cx="2298642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Breaches &amp; misuse of passenger data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56270" y="5013821"/>
            <a:ext cx="2626453" cy="999827"/>
          </a:xfrm>
          <a:prstGeom prst="roundRect">
            <a:avLst>
              <a:gd name="adj" fmla="val 635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0175" y="5177730"/>
            <a:ext cx="229864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Automation Bias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320175" y="5495925"/>
            <a:ext cx="2298642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Over-reliance leading to errors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903668" y="5013821"/>
            <a:ext cx="2626552" cy="999827"/>
          </a:xfrm>
          <a:prstGeom prst="roundRect">
            <a:avLst>
              <a:gd name="adj" fmla="val 6352"/>
            </a:avLst>
          </a:prstGeom>
          <a:solidFill>
            <a:srgbClr val="101620"/>
          </a:solidFill>
          <a:ln w="12700">
            <a:solidFill>
              <a:srgbClr val="002A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67573" y="5177730"/>
            <a:ext cx="2298742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b="1" kern="0" spc="-3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IP Issues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067573" y="5495925"/>
            <a:ext cx="2298742" cy="353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7000"/>
              </a:lnSpc>
              <a:buNone/>
            </a:pPr>
            <a:r>
              <a:rPr lang="en-US" sz="11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Intellectual-property &amp; accountability gaps</a:t>
            </a:r>
            <a:endParaRPr lang="en-US" sz="1150" dirty="0"/>
          </a:p>
        </p:txBody>
      </p:sp>
      <p:pic>
        <p:nvPicPr>
          <p:cNvPr id="25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8" y="510706"/>
            <a:ext cx="1119726" cy="151506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2718" y="432347"/>
            <a:ext cx="968404" cy="167177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7138" y="3565813"/>
            <a:ext cx="1328129" cy="17639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1832" y="694434"/>
            <a:ext cx="1728158" cy="114760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3982" y="3565813"/>
            <a:ext cx="1247838" cy="174476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408" y="3450567"/>
            <a:ext cx="1071329" cy="1863306"/>
          </a:xfrm>
          <a:prstGeom prst="rect">
            <a:avLst/>
          </a:prstGeom>
        </p:spPr>
      </p:pic>
      <p:pic>
        <p:nvPicPr>
          <p:cNvPr id="9" name="Picture 2" descr="Solid White Wallpapers - Top Free Solid White Backgrounds - WallpaperAccess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1472955" y="6138955"/>
            <a:ext cx="322408" cy="1115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-2292" y="2047466"/>
            <a:ext cx="1757462" cy="690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Harsh      (2520996526)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51832" y="2003645"/>
            <a:ext cx="2061528" cy="690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Gurshan</a:t>
            </a: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(2520996522)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31130" y="2348996"/>
            <a:ext cx="1967723" cy="690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Parth       (2520996548)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43419" y="5416021"/>
            <a:ext cx="1967723" cy="690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Soham</a:t>
            </a: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(2520996560)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23982" y="5310577"/>
            <a:ext cx="1796990" cy="690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Khushi    (2520996535)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282" y="5352307"/>
            <a:ext cx="1779276" cy="690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Sayam</a:t>
            </a: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(2520996557)</a:t>
            </a:r>
            <a:endParaRPr lang="en-US" dirty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4950" y="3565813"/>
            <a:ext cx="1139349" cy="196545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696251" y="5531267"/>
            <a:ext cx="1947417" cy="690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</a:pPr>
            <a:r>
              <a:rPr lang="en-US" dirty="0" err="1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Somil</a:t>
            </a:r>
            <a:r>
              <a:rPr lang="en-US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 (2520996561)</a:t>
            </a:r>
            <a:endParaRPr lang="en-US" dirty="0">
              <a:solidFill>
                <a:srgbClr val="EBEDF0"/>
              </a:solidFill>
              <a:latin typeface="Geist" pitchFamily="34" charset="0"/>
              <a:ea typeface="Geist" pitchFamily="34" charset="-122"/>
              <a:cs typeface="Geist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32119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420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emini_generated_video_884298ef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69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1004</Words>
  <Application>Microsoft Office PowerPoint</Application>
  <PresentationFormat>Widescreen</PresentationFormat>
  <Paragraphs>191</Paragraphs>
  <Slides>13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Geist Bold</vt:lpstr>
      <vt:lpstr>Geist</vt:lpstr>
      <vt:lpstr>Calibri</vt:lpstr>
      <vt:lpstr>Noto Color Emoji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homr</cp:lastModifiedBy>
  <cp:revision>8</cp:revision>
  <dcterms:created xsi:type="dcterms:W3CDTF">2026-09-22T09:33:03Z</dcterms:created>
  <dcterms:modified xsi:type="dcterms:W3CDTF">2026-09-23T06:11:24Z</dcterms:modified>
</cp:coreProperties>
</file>